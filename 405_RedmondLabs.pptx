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44F76F-B3A3-4B32-AD2E-8E44440C5793}" v="4" dt="2026-09-27T06:05:17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Gupta" userId="2b6500134366f18a" providerId="LiveId" clId="{5CAD48D3-0348-484D-9F16-180A38F33D97}"/>
    <pc:docChg chg="custSel modSld">
      <pc:chgData name="Ishan Gupta" userId="2b6500134366f18a" providerId="LiveId" clId="{5CAD48D3-0348-484D-9F16-180A38F33D97}" dt="2026-09-27T06:35:11.992" v="83" actId="20577"/>
      <pc:docMkLst>
        <pc:docMk/>
      </pc:docMkLst>
      <pc:sldChg chg="addSp delSp modSp mod">
        <pc:chgData name="Ishan Gupta" userId="2b6500134366f18a" providerId="LiveId" clId="{5CAD48D3-0348-484D-9F16-180A38F33D97}" dt="2026-09-27T06:05:17.877" v="81"/>
        <pc:sldMkLst>
          <pc:docMk/>
          <pc:sldMk cId="0" sldId="257"/>
        </pc:sldMkLst>
        <pc:graphicFrameChg chg="add mod">
          <ac:chgData name="Ishan Gupta" userId="2b6500134366f18a" providerId="LiveId" clId="{5CAD48D3-0348-484D-9F16-180A38F33D97}" dt="2026-09-27T06:05:17.877" v="81"/>
          <ac:graphicFrameMkLst>
            <pc:docMk/>
            <pc:sldMk cId="0" sldId="257"/>
            <ac:graphicFrameMk id="10" creationId="{40D43E5A-0807-6D20-9374-B4E51B7A3737}"/>
          </ac:graphicFrameMkLst>
        </pc:graphicFrameChg>
      </pc:sldChg>
      <pc:sldChg chg="delSp modSp mod">
        <pc:chgData name="Ishan Gupta" userId="2b6500134366f18a" providerId="LiveId" clId="{5CAD48D3-0348-484D-9F16-180A38F33D97}" dt="2026-09-25T18:35:32.465" v="46" actId="478"/>
        <pc:sldMkLst>
          <pc:docMk/>
          <pc:sldMk cId="0" sldId="258"/>
        </pc:sldMkLst>
        <pc:graphicFrameChg chg="mod modGraphic">
          <ac:chgData name="Ishan Gupta" userId="2b6500134366f18a" providerId="LiveId" clId="{5CAD48D3-0348-484D-9F16-180A38F33D97}" dt="2026-09-25T18:34:01.663" v="44" actId="20577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modSp mod">
        <pc:chgData name="Ishan Gupta" userId="2b6500134366f18a" providerId="LiveId" clId="{5CAD48D3-0348-484D-9F16-180A38F33D97}" dt="2026-09-27T06:35:11.992" v="83" actId="20577"/>
        <pc:sldMkLst>
          <pc:docMk/>
          <pc:sldMk cId="0" sldId="261"/>
        </pc:sldMkLst>
        <pc:spChg chg="mod">
          <ac:chgData name="Ishan Gupta" userId="2b6500134366f18a" providerId="LiveId" clId="{5CAD48D3-0348-484D-9F16-180A38F33D97}" dt="2026-09-27T06:35:11.992" v="83" actId="20577"/>
          <ac:spMkLst>
            <pc:docMk/>
            <pc:sldMk cId="0" sldId="261"/>
            <ac:spMk id="20" creationId="{00000000-0000-0000-0000-000000000000}"/>
          </ac:spMkLst>
        </pc:spChg>
      </pc:sldChg>
      <pc:sldChg chg="modSp mod">
        <pc:chgData name="Ishan Gupta" userId="2b6500134366f18a" providerId="LiveId" clId="{5CAD48D3-0348-484D-9F16-180A38F33D97}" dt="2026-09-25T18:48:26.672" v="80" actId="20577"/>
        <pc:sldMkLst>
          <pc:docMk/>
          <pc:sldMk cId="0" sldId="262"/>
        </pc:sldMkLst>
        <pc:spChg chg="mod">
          <ac:chgData name="Ishan Gupta" userId="2b6500134366f18a" providerId="LiveId" clId="{5CAD48D3-0348-484D-9F16-180A38F33D97}" dt="2026-09-25T18:48:26.672" v="80" actId="20577"/>
          <ac:spMkLst>
            <pc:docMk/>
            <pc:sldMk cId="0" sldId="262"/>
            <ac:spMk id="19" creationId="{00000000-0000-0000-0000-000000000000}"/>
          </ac:spMkLst>
        </pc:spChg>
      </pc:sldChg>
    </pc:docChg>
  </pc:docChgLst>
  <pc:docChgLst>
    <pc:chgData name="Sonal Kukreja" userId="6cd0ef20-c03e-4010-a8ad-6e84fbe563d6" providerId="ADAL" clId="{9A0A1E7B-C31A-4868-AB13-4281ABD0901F}"/>
    <pc:docChg chg="modSld">
      <pc:chgData name="Sonal Kukreja" userId="6cd0ef20-c03e-4010-a8ad-6e84fbe563d6" providerId="ADAL" clId="{9A0A1E7B-C31A-4868-AB13-4281ABD0901F}" dt="2026-09-22T11:45:56.738" v="6" actId="20577"/>
      <pc:docMkLst>
        <pc:docMk/>
      </pc:docMkLst>
      <pc:sldChg chg="modSp mod">
        <pc:chgData name="Sonal Kukreja" userId="6cd0ef20-c03e-4010-a8ad-6e84fbe563d6" providerId="ADAL" clId="{9A0A1E7B-C31A-4868-AB13-4281ABD0901F}" dt="2026-09-22T11:45:56.738" v="6" actId="20577"/>
        <pc:sldMkLst>
          <pc:docMk/>
          <pc:sldMk cId="0" sldId="257"/>
        </pc:sldMkLst>
        <pc:spChg chg="mod">
          <ac:chgData name="Sonal Kukreja" userId="6cd0ef20-c03e-4010-a8ad-6e84fbe563d6" providerId="ADAL" clId="{9A0A1E7B-C31A-4868-AB13-4281ABD0901F}" dt="2026-09-22T11:45:56.738" v="6" actId="20577"/>
          <ac:spMkLst>
            <pc:docMk/>
            <pc:sldMk cId="0" sldId="257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74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logo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"/>
            <a:ext cx="51206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4630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&amp; Technology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321040" y="914400"/>
            <a:ext cx="3867912" cy="5943600"/>
          </a:xfrm>
          <a:prstGeom prst="rect">
            <a:avLst/>
          </a:prstGeom>
          <a:solidFill>
            <a:srgbClr val="0E1B31"/>
          </a:solidFill>
          <a:ln/>
        </p:spPr>
      </p:sp>
      <p:sp>
        <p:nvSpPr>
          <p:cNvPr id="6" name="Shape 3"/>
          <p:cNvSpPr/>
          <p:nvPr/>
        </p:nvSpPr>
        <p:spPr>
          <a:xfrm>
            <a:off x="9646920" y="196596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987" y="2275027"/>
            <a:ext cx="570586" cy="5705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21040" y="34290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POWERED HACKATHON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6002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Innovate 2026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FB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 ·  Build  ·  Empower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63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566160" y="30906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70332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Redmond Labs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566160" y="37764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703320" y="3776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566160" y="44622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70332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PS-22: Someone's Spraying the VPN (Unusual Authentication Activity Detector)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5120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 Bucket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566160" y="51480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703320" y="5148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/ SecOps (Cloud &amp; Enterprise Threat Detection)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5806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566160" y="58338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703320" y="5833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Ishan Gupta | Enrollment No: S26CSEU1496 | Email: S26CSEU1496@bennett.edu.in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Redmond Labs   |   Microsoft Innovate 2026 · Bennett University   |   Slide 2 of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546791"/>
              </p:ext>
            </p:extLst>
          </p:nvPr>
        </p:nvGraphicFramePr>
        <p:xfrm>
          <a:off x="548640" y="1325880"/>
          <a:ext cx="11091672" cy="2514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&amp;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Ishan Gupta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S26CSEU1496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1st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S26CSEU1496@bennett.edu.in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 &amp; Frontend 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Aditya Pandey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S26CSEU2576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1st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S26CSEU2576@bennett.edu.in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&amp; Detection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Devansh Tiwari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S26CSEU2556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1st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S26CSEU2556@bennett.edu.in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&amp;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Satyam Kalra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S26CSEU2587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1st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S26CSEU2587@bennett.edu.in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Testing &amp;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i="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Shashi Shekhar Kumar (shashi.kumar1@bennett.edu.in)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Redmond Labs   |   Microsoft Innovate 2026 · Bennett University   |   Slide 3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password spraying (MITRE T1110.003) hits thousands of accounts with only 1–2 attempts each, from hundreds of rotating proxy IPs.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and per-account threshold rules see zero alerts — the attack is built to stay under every single limit.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 the threshold to catch it, and one campaign alone floods the queue with dozens of alerts — technically detected, practically unusable for triage.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faces it?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Tier-1/2 SOC analysts and security engineers defending VPN and identity gateways (Cisco ASA, Linux SSH, Entra ID).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precedent: Microsoft's own Midnight Blizzard breach in 2024 used exactly this low-and-slow spray pattern against a non-MFA tenant.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1148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current options fall short?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75488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queries count rows per IP — they cannot see the graph shape of a coordinated, multi-day campaign.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SOCs already triage ~3,000 alerts a day, and 46% turn out to be false positives; tightening or loosening one rule doesn't fix that math.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fall back on unwritten mental allowlists to survive the noise — and that judgment leaves with them when they change teams.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Redmond Labs   |   Microsoft Innovate 2026 · Bennett University   |   Slide 4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 in one line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i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Quorum, a correlation layer that turns thousands of scattered VPN login failures into one verified incident — raised only when independent detectors agree it's a real campaign.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2854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 the problem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IP-to-account graph across the whole directory and clusters it with Union-Find — catching distributed sprays that per-row counting structurally cannot see.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rule or graph signal alone is capped below Critical — reaching Critical needs either multiple independent detectors agreeing, or a confirmed pivot into the account.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sprayed account logs in successfully, that pivot signal instantly floors the incident to Critical — turning "suspicious" into "confirmed" in real time.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199632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28232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991" y="32854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68312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severity score is a printed, inspectable equation, not a black-box number — an analyst can defend it on the spot.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directly into Microsoft Sentinel's incident schema — built to sit alongside a SOC's existing stack, not replace it.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hash-chained audit ledger proves tampering the moment it happens, and the system never auto-locks an account — every action needs a named human's confirmation.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Redmond Labs   |   Microsoft Innovate 2026 · Bennett University   |   Slide 5 of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tech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(React)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14016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14016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9392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 15)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44768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— deterministic detection logic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10144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Supabase (free tier)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Vitest, Playwright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12233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How the system works: End-to-end detection pipeline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VPN &amp; Identity Logs
(Cisco ASA, Linux, Windows 4624/4625, Entra ID)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90672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</p:sp>
      <p:sp>
        <p:nvSpPr>
          <p:cNvPr id="22" name="Shape 20"/>
          <p:cNvSpPr/>
          <p:nvPr/>
        </p:nvSpPr>
        <p:spPr>
          <a:xfrm>
            <a:off x="3593592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593592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Event Normalizer
(UTC timestamps, dedup, format auto-detect)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98464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1384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01384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Rule, Graph &amp; Pivot Detectors
→ Union-Find Correlation → Quorum Severity Score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06256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</p:sp>
      <p:sp>
        <p:nvSpPr>
          <p:cNvPr id="28" name="Shape 26"/>
          <p:cNvSpPr/>
          <p:nvPr/>
        </p:nvSpPr>
        <p:spPr>
          <a:xfrm>
            <a:off x="9409176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409176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Cockpit
(0 vs 97 vs 1 contrast, audit ledger, Sentinel export)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702759"/>
            <a:ext cx="241402" cy="24140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417320" y="45720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started working on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" y="52120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full product specification — feature scope, severity formulas, named tests, and MITRE mapping, cross-checked for consistency.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deterministic synthetic-log generator (Pack A for tuning, sealed Pack B for reporting) so every metric we show is measured, not estimated.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sz="1050" i="0">
                <a:solidFill>
                  <a:srgbClr val="1E293B"/>
                </a:solidFill>
                <a:latin typeface="Calibri"/>
              </a:rPr>
              <a:t>Defined the canonical AuthEvent schema and Supabase data model that every detector will run against.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Redmond Labs   |   Microsoft Innovate 2026 · Bennett University   |   Slide 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a 97-alert flood from one campaign into a single verified incident — targeting an alert-to-true-positive ratio of ≤3:1.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≥92% campaign recall with under 5-minute median detection time on a sealed, held-out evaluation corpus.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/ $0 stack — Next.js, Supabase, and Vercel free tiers only; the demo runs fully offline on a local instance.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 is pure, dependency-free TypeScript with no ML framework to debug — the hardest algorithm (Union-Find) is under 80 lines and fully unit-testable.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next round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Ship ingestion, the sealed generator (Pack A/B), and the baseline brute-force and single-source spray rules.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Build the Union-Find campaign graph, the pivot detector, and the hash-chained audit ledger.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Deliver the analyst cockpit with the live 0 vs 97 vs 1 contrast demo and Sentinel export.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99632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8232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410839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68312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data sources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519672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(2025): DBIR Report — Credentials in 22% of initial access breaches.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i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MSRC (2024): Midnight Blizzard password spray threat advisory.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sz="1050" i="0">
                <a:solidFill>
                  <a:srgbClr val="1E293B"/>
                </a:solidFill>
                <a:latin typeface="Calibri"/>
              </a:rPr>
              <a:t>Cisco Talos (2024): Large-scale brute-force activity targeting VPNs.</a:t>
            </a:r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sz="1050" i="0">
                <a:solidFill>
                  <a:srgbClr val="1E293B"/>
                </a:solidFill>
                <a:latin typeface="Calibri"/>
              </a:rPr>
              <a:t>MITRE ATT&amp;CK: Techniques T1110.003 (Password Spraying) &amp; T1078 (Valid Accounts).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1120</Words>
  <Application>Microsoft Office PowerPoint</Application>
  <PresentationFormat>Widescreen</PresentationFormat>
  <Paragraphs>120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Ishan Gupta</cp:lastModifiedBy>
  <cp:revision>1</cp:revision>
  <dcterms:created xsi:type="dcterms:W3CDTF">2026-09-22T11:43:49Z</dcterms:created>
  <dcterms:modified xsi:type="dcterms:W3CDTF">2026-09-27T06:35:20Z</dcterms:modified>
</cp:coreProperties>
</file>